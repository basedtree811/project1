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S5OfbE+dn8iu2houPohQyy1dY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846CCC-26C9-44BC-927E-25D5D4DBB280}">
  <a:tblStyle styleId="{6E846CCC-26C9-44BC-927E-25D5D4DBB28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60" y="11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Целью курсового проектирования является создание …..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12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Задачи </a:t>
            </a: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курсового</a:t>
            </a:r>
            <a:r>
              <a:rPr lang="ru-RU" sz="1200" b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проектирования </a:t>
            </a:r>
            <a:r>
              <a:rPr lang="ru-RU" sz="12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представлены </a:t>
            </a: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 слайде …….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ИЛИ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ru-RU" sz="1200" b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Функциональные задачи программного продукта: …….</a:t>
            </a:r>
            <a:endParaRPr sz="1200" b="0">
              <a:solidFill>
                <a:schemeClr val="accent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Данная тема актуальна на сегодняшний момент времени, так как …… </a:t>
            </a:r>
            <a:endParaRPr/>
          </a:p>
        </p:txBody>
      </p:sp>
      <p:sp>
        <p:nvSpPr>
          <p:cNvPr id="103" name="Google Shape;10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Заголовок и объект">
  <p:cSld name="1_Заголовок и объект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1524000" y="731520"/>
            <a:ext cx="85344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/>
          <p:nvPr/>
        </p:nvSpPr>
        <p:spPr>
          <a:xfrm>
            <a:off x="3014311" y="2102974"/>
            <a:ext cx="6279306" cy="223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18288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ru-RU" sz="4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Проектная работа</a:t>
            </a:r>
            <a:endParaRPr lang="ru-RU" dirty="0">
              <a:solidFill>
                <a:schemeClr val="tx1"/>
              </a:solidFill>
            </a:endParaRPr>
          </a:p>
          <a:p>
            <a:pPr marL="18288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ru-RU" sz="44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150000"/>
              </a:lnSpc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НАСТОЛЬНОЕ ПРИЛОЖЕНИЕ «ЭЛЕКТРОННАЯ БИБЛИОТЕКА»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184321" y="328071"/>
            <a:ext cx="7823357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АВТОНОМНАЯ НЕКОММЕРЧЕСКАЯ ОРГАНИЗАЦИЯ ПРОФЕССИОНАЛЬНАЯ ОБРАЗОВАТЕЛЬНАЯ ОРГАНИЗАЦИЯ МОСКОВСКИЙ МЕЖДУНАРОДНЫЙ КОЛЛЕДЖ ЦИФРОВЫХ ТЕХНОЛОГИЙ «АКАДЕМИЯ ТОП»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7123679" y="4910703"/>
            <a:ext cx="5214959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Выполнил: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Д.И. Гавриков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Группа:</a:t>
            </a:r>
            <a:r>
              <a:rPr lang="ru-RU" sz="1800" dirty="0">
                <a:solidFill>
                  <a:schemeClr val="dk1"/>
                </a:solidFill>
              </a:rPr>
              <a:t>9</a:t>
            </a:r>
            <a:r>
              <a:rPr lang="en-US" sz="1800" dirty="0">
                <a:solidFill>
                  <a:schemeClr val="dk1"/>
                </a:solidFill>
              </a:rPr>
              <a:t>/2-</a:t>
            </a:r>
            <a:r>
              <a:rPr lang="ru-RU" sz="1800" dirty="0">
                <a:solidFill>
                  <a:schemeClr val="dk1"/>
                </a:solidFill>
              </a:rPr>
              <a:t>РПО-24</a:t>
            </a:r>
            <a:r>
              <a:rPr lang="en-US" sz="1800" dirty="0">
                <a:solidFill>
                  <a:schemeClr val="dk1"/>
                </a:solidFill>
              </a:rPr>
              <a:t>/1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Руководитель: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А.А. Концевич</a:t>
            </a:r>
            <a:endParaRPr dirty="0"/>
          </a:p>
        </p:txBody>
      </p:sp>
      <p:sp>
        <p:nvSpPr>
          <p:cNvPr id="98" name="Google Shape;98;p1"/>
          <p:cNvSpPr txBox="1"/>
          <p:nvPr/>
        </p:nvSpPr>
        <p:spPr>
          <a:xfrm>
            <a:off x="9731159" y="559901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5356310" y="6345263"/>
            <a:ext cx="15953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Иркутск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11388491" y="6277293"/>
            <a:ext cx="5452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C10AC882-F7BF-E827-B2D2-F88550449FCC}"/>
              </a:ext>
            </a:extLst>
          </p:cNvPr>
          <p:cNvSpPr/>
          <p:nvPr/>
        </p:nvSpPr>
        <p:spPr>
          <a:xfrm>
            <a:off x="216404" y="960119"/>
            <a:ext cx="10625645" cy="885553"/>
          </a:xfrm>
          <a:prstGeom prst="roundRect">
            <a:avLst>
              <a:gd name="adj" fmla="val 9412"/>
            </a:avLst>
          </a:prstGeom>
          <a:solidFill>
            <a:srgbClr val="EBF3FB"/>
          </a:solidFill>
          <a:ln w="19050">
            <a:solidFill>
              <a:srgbClr val="4DB6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r>
              <a:rPr lang="en-US" sz="1800" b="1" dirty="0" err="1">
                <a:solidFill>
                  <a:srgbClr val="1A4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Цель</a:t>
            </a:r>
            <a:r>
              <a:rPr lang="en-US" sz="1800" b="1" dirty="0">
                <a:solidFill>
                  <a:srgbClr val="1A4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автоматизировать</a:t>
            </a:r>
            <a:r>
              <a:rPr lang="en-US" sz="1800" dirty="0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доступ</a:t>
            </a:r>
            <a:r>
              <a:rPr lang="en-US" sz="1800" dirty="0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к </a:t>
            </a:r>
            <a:r>
              <a:rPr lang="en-US" sz="1800" dirty="0" err="1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библиотечному</a:t>
            </a:r>
            <a:r>
              <a:rPr lang="en-US" sz="1800" dirty="0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каталогу</a:t>
            </a:r>
            <a:r>
              <a:rPr lang="en-US" sz="1800" dirty="0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обеспечить</a:t>
            </a:r>
            <a:r>
              <a:rPr lang="en-US" sz="1800" dirty="0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поиск</a:t>
            </a:r>
            <a:r>
              <a:rPr lang="en-US" sz="1800" dirty="0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чтение</a:t>
            </a:r>
            <a:r>
              <a:rPr lang="en-US" sz="1800" dirty="0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учёт</a:t>
            </a:r>
            <a:r>
              <a:rPr lang="en-US" sz="1800" dirty="0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избранного</a:t>
            </a:r>
            <a:r>
              <a:rPr lang="en-US" sz="1800" dirty="0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истории</a:t>
            </a:r>
            <a:r>
              <a:rPr lang="en-US" sz="1800" dirty="0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чтения</a:t>
            </a:r>
            <a:r>
              <a:rPr lang="en-US" sz="1800" dirty="0">
                <a:solidFill>
                  <a:srgbClr val="0D21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EA1126BE-D252-7852-B2B1-ADB7C06C49AB}"/>
              </a:ext>
            </a:extLst>
          </p:cNvPr>
          <p:cNvSpPr/>
          <p:nvPr/>
        </p:nvSpPr>
        <p:spPr>
          <a:xfrm>
            <a:off x="0" y="-81847"/>
            <a:ext cx="12192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9DF8C1B-9471-D8BD-0552-B5603B2689F2}"/>
              </a:ext>
            </a:extLst>
          </p:cNvPr>
          <p:cNvSpPr/>
          <p:nvPr/>
        </p:nvSpPr>
        <p:spPr>
          <a:xfrm>
            <a:off x="365760" y="-457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функциональные задачи</a:t>
            </a:r>
            <a:endParaRPr lang="en-US" sz="26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625D40A-935A-EB35-2FFD-457EF8229A75}"/>
              </a:ext>
            </a:extLst>
          </p:cNvPr>
          <p:cNvSpPr/>
          <p:nvPr/>
        </p:nvSpPr>
        <p:spPr>
          <a:xfrm>
            <a:off x="218814" y="1967302"/>
            <a:ext cx="5132351" cy="1122918"/>
          </a:xfrm>
          <a:prstGeom prst="roundRect">
            <a:avLst>
              <a:gd name="adj" fmla="val 8537"/>
            </a:avLst>
          </a:prstGeom>
          <a:solidFill>
            <a:srgbClr val="F0F4F8"/>
          </a:solidFill>
          <a:ln w="12700">
            <a:solidFill>
              <a:srgbClr val="2A7C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E0F6B6AC-714D-DE20-C4E4-6943A8923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163722"/>
            <a:ext cx="616235" cy="616235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CBDF56BD-3CD7-214B-7E54-74904AC397ED}"/>
              </a:ext>
            </a:extLst>
          </p:cNvPr>
          <p:cNvSpPr/>
          <p:nvPr/>
        </p:nvSpPr>
        <p:spPr>
          <a:xfrm>
            <a:off x="1219199" y="2076855"/>
            <a:ext cx="4008121" cy="903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2137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Регистрация и авторизация пользователей с разграничением прав (Пользователь / Администратор)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8C5D0420-8EBF-9290-AFF6-48A36EA382AA}"/>
              </a:ext>
            </a:extLst>
          </p:cNvPr>
          <p:cNvSpPr/>
          <p:nvPr/>
        </p:nvSpPr>
        <p:spPr>
          <a:xfrm>
            <a:off x="5776995" y="1941899"/>
            <a:ext cx="5065055" cy="1182463"/>
          </a:xfrm>
          <a:prstGeom prst="roundRect">
            <a:avLst>
              <a:gd name="adj" fmla="val 8537"/>
            </a:avLst>
          </a:prstGeom>
          <a:solidFill>
            <a:srgbClr val="F0F4F8"/>
          </a:solidFill>
          <a:ln w="12700">
            <a:solidFill>
              <a:srgbClr val="2A7C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48C70764-E34A-1DAC-3C91-7CD433B05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723" y="2106491"/>
            <a:ext cx="648913" cy="648913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32A7D48D-5A68-7D9C-714F-0F5095B8C527}"/>
              </a:ext>
            </a:extLst>
          </p:cNvPr>
          <p:cNvSpPr/>
          <p:nvPr/>
        </p:nvSpPr>
        <p:spPr>
          <a:xfrm>
            <a:off x="6645364" y="2015051"/>
            <a:ext cx="3937600" cy="951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каталога книг и поиск по названию, автору, жанру</a:t>
            </a:r>
            <a:endParaRPr lang="en-US" sz="16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1F53AAE8-151D-EDA9-806E-684000FA805E}"/>
              </a:ext>
            </a:extLst>
          </p:cNvPr>
          <p:cNvSpPr/>
          <p:nvPr/>
        </p:nvSpPr>
        <p:spPr>
          <a:xfrm>
            <a:off x="216403" y="3223871"/>
            <a:ext cx="5134761" cy="1182463"/>
          </a:xfrm>
          <a:prstGeom prst="roundRect">
            <a:avLst>
              <a:gd name="adj" fmla="val 8537"/>
            </a:avLst>
          </a:prstGeom>
          <a:solidFill>
            <a:srgbClr val="F0F4F8"/>
          </a:solidFill>
          <a:ln w="12700">
            <a:solidFill>
              <a:srgbClr val="2A7C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30EDA089-87A3-51E3-D8EC-A0B23A5CF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133" y="3364365"/>
            <a:ext cx="648913" cy="648913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37D06FCF-1838-1DF4-27C5-54960AA1CC60}"/>
              </a:ext>
            </a:extLst>
          </p:cNvPr>
          <p:cNvSpPr/>
          <p:nvPr/>
        </p:nvSpPr>
        <p:spPr>
          <a:xfrm>
            <a:off x="1219198" y="3272925"/>
            <a:ext cx="3803175" cy="951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электронных версий книг в формате PDF непосредственно из приложения</a:t>
            </a:r>
            <a:endParaRPr lang="en-US" sz="16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66F85E85-2BB6-7C63-CCF9-289EA0B99483}"/>
              </a:ext>
            </a:extLst>
          </p:cNvPr>
          <p:cNvSpPr/>
          <p:nvPr/>
        </p:nvSpPr>
        <p:spPr>
          <a:xfrm>
            <a:off x="5776995" y="3272925"/>
            <a:ext cx="5065055" cy="1182463"/>
          </a:xfrm>
          <a:prstGeom prst="roundRect">
            <a:avLst>
              <a:gd name="adj" fmla="val 8537"/>
            </a:avLst>
          </a:prstGeom>
          <a:solidFill>
            <a:srgbClr val="F0F4F8"/>
          </a:solidFill>
          <a:ln w="12700">
            <a:solidFill>
              <a:srgbClr val="2A7C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5352C114-0A05-F3BB-B80D-9C9D416492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6723" y="3442277"/>
            <a:ext cx="648913" cy="648913"/>
          </a:xfrm>
          <a:prstGeom prst="rect">
            <a:avLst/>
          </a:prstGeom>
        </p:spPr>
      </p:pic>
      <p:sp>
        <p:nvSpPr>
          <p:cNvPr id="18" name="Text 11">
            <a:extLst>
              <a:ext uri="{FF2B5EF4-FFF2-40B4-BE49-F238E27FC236}">
                <a16:creationId xmlns:a16="http://schemas.microsoft.com/office/drawing/2014/main" id="{EE274AE1-E1E4-8CD7-59F0-A75CBC310142}"/>
              </a:ext>
            </a:extLst>
          </p:cNvPr>
          <p:cNvSpPr/>
          <p:nvPr/>
        </p:nvSpPr>
        <p:spPr>
          <a:xfrm>
            <a:off x="6645364" y="3350837"/>
            <a:ext cx="3937600" cy="951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книг в раздел «Избранное» и управление списком</a:t>
            </a:r>
            <a:endParaRPr lang="en-US" sz="16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21C12F90-33EE-012F-44C6-81722B2315C1}"/>
              </a:ext>
            </a:extLst>
          </p:cNvPr>
          <p:cNvSpPr/>
          <p:nvPr/>
        </p:nvSpPr>
        <p:spPr>
          <a:xfrm>
            <a:off x="216403" y="4544568"/>
            <a:ext cx="5134761" cy="1182463"/>
          </a:xfrm>
          <a:prstGeom prst="roundRect">
            <a:avLst>
              <a:gd name="adj" fmla="val 8537"/>
            </a:avLst>
          </a:prstGeom>
          <a:solidFill>
            <a:srgbClr val="F0F4F8"/>
          </a:solidFill>
          <a:ln w="12700">
            <a:solidFill>
              <a:srgbClr val="2A7C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0" name="Image 5" descr="preencoded.png">
            <a:extLst>
              <a:ext uri="{FF2B5EF4-FFF2-40B4-BE49-F238E27FC236}">
                <a16:creationId xmlns:a16="http://schemas.microsoft.com/office/drawing/2014/main" id="{E8CE8E1C-D5E3-A901-04E9-6D1AFBEFF6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133" y="4709160"/>
            <a:ext cx="648913" cy="648913"/>
          </a:xfrm>
          <a:prstGeom prst="rect">
            <a:avLst/>
          </a:prstGeom>
        </p:spPr>
      </p:pic>
      <p:sp>
        <p:nvSpPr>
          <p:cNvPr id="21" name="Text 13">
            <a:extLst>
              <a:ext uri="{FF2B5EF4-FFF2-40B4-BE49-F238E27FC236}">
                <a16:creationId xmlns:a16="http://schemas.microsoft.com/office/drawing/2014/main" id="{FEB659A9-C356-EE54-7AB6-6E4A0393CC7E}"/>
              </a:ext>
            </a:extLst>
          </p:cNvPr>
          <p:cNvSpPr/>
          <p:nvPr/>
        </p:nvSpPr>
        <p:spPr>
          <a:xfrm>
            <a:off x="1219198" y="4617720"/>
            <a:ext cx="3803176" cy="951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сохранение истории чтения и начисление баллов активности</a:t>
            </a:r>
            <a:endParaRPr lang="en-US" sz="16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742BCD45-512F-CA94-B807-0D8BDDC328F4}"/>
              </a:ext>
            </a:extLst>
          </p:cNvPr>
          <p:cNvSpPr/>
          <p:nvPr/>
        </p:nvSpPr>
        <p:spPr>
          <a:xfrm>
            <a:off x="5776995" y="4577017"/>
            <a:ext cx="5065055" cy="1182463"/>
          </a:xfrm>
          <a:prstGeom prst="roundRect">
            <a:avLst>
              <a:gd name="adj" fmla="val 8537"/>
            </a:avLst>
          </a:prstGeom>
          <a:solidFill>
            <a:srgbClr val="F0F4F8"/>
          </a:solidFill>
          <a:ln w="12700">
            <a:solidFill>
              <a:srgbClr val="2A7C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3" name="Image 6" descr="preencoded.png">
            <a:extLst>
              <a:ext uri="{FF2B5EF4-FFF2-40B4-BE49-F238E27FC236}">
                <a16:creationId xmlns:a16="http://schemas.microsoft.com/office/drawing/2014/main" id="{DC4B9A17-9FED-A195-58FC-0F07285DAA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6723" y="4741609"/>
            <a:ext cx="648913" cy="648913"/>
          </a:xfrm>
          <a:prstGeom prst="rect">
            <a:avLst/>
          </a:prstGeom>
        </p:spPr>
      </p:pic>
      <p:sp>
        <p:nvSpPr>
          <p:cNvPr id="24" name="Text 15">
            <a:extLst>
              <a:ext uri="{FF2B5EF4-FFF2-40B4-BE49-F238E27FC236}">
                <a16:creationId xmlns:a16="http://schemas.microsoft.com/office/drawing/2014/main" id="{8BBED07A-61A2-F2A9-8554-13E9EFBFB723}"/>
              </a:ext>
            </a:extLst>
          </p:cNvPr>
          <p:cNvSpPr/>
          <p:nvPr/>
        </p:nvSpPr>
        <p:spPr>
          <a:xfrm>
            <a:off x="6645364" y="4650169"/>
            <a:ext cx="3937600" cy="951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администратора: добавление, редактирование, удаление книг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0AC344-34E9-2EBF-2B98-9ABB38B5BEE2}"/>
              </a:ext>
            </a:extLst>
          </p:cNvPr>
          <p:cNvSpPr/>
          <p:nvPr/>
        </p:nvSpPr>
        <p:spPr>
          <a:xfrm>
            <a:off x="-136028" y="-160221"/>
            <a:ext cx="13536899" cy="1384133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09DAEB8-DA78-B3A6-9E7E-C2F165BC9003}"/>
              </a:ext>
            </a:extLst>
          </p:cNvPr>
          <p:cNvSpPr/>
          <p:nvPr/>
        </p:nvSpPr>
        <p:spPr>
          <a:xfrm>
            <a:off x="274319" y="91440"/>
            <a:ext cx="12724685" cy="1132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Предметная область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F6478BA-A26C-8E02-3E5E-2C8550BD47A5}"/>
              </a:ext>
            </a:extLst>
          </p:cNvPr>
          <p:cNvSpPr/>
          <p:nvPr/>
        </p:nvSpPr>
        <p:spPr>
          <a:xfrm>
            <a:off x="329034" y="1701373"/>
            <a:ext cx="6610150" cy="4267199"/>
          </a:xfrm>
          <a:prstGeom prst="roundRect">
            <a:avLst>
              <a:gd name="adj" fmla="val 2500"/>
            </a:avLst>
          </a:prstGeom>
          <a:solidFill>
            <a:srgbClr val="EBF3FB"/>
          </a:solidFill>
          <a:ln w="12700">
            <a:solidFill>
              <a:srgbClr val="4DB6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97EC0D-ABC5-860A-F7E7-EC815DF1139F}"/>
              </a:ext>
            </a:extLst>
          </p:cNvPr>
          <p:cNvSpPr/>
          <p:nvPr/>
        </p:nvSpPr>
        <p:spPr>
          <a:xfrm>
            <a:off x="329034" y="1701373"/>
            <a:ext cx="6120509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системы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50F3485-156A-5350-441E-DF7684E5CD42}"/>
              </a:ext>
            </a:extLst>
          </p:cNvPr>
          <p:cNvSpPr/>
          <p:nvPr/>
        </p:nvSpPr>
        <p:spPr>
          <a:xfrm>
            <a:off x="511913" y="2069379"/>
            <a:ext cx="6120509" cy="34137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2A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Цифровизация библиотечного фонда: хранение, поиск и доступ к электронным книгам
</a:t>
            </a:r>
            <a:r>
              <a:rPr lang="en-US" sz="1800" b="1" dirty="0">
                <a:solidFill>
                  <a:srgbClr val="2A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Клиент-серверная архитектура: Flutter (Dart) — клиент, PHP — сервер, MySQL — база данных
</a:t>
            </a:r>
            <a:r>
              <a:rPr lang="en-US" sz="1800" b="1" dirty="0">
                <a:solidFill>
                  <a:srgbClr val="2A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Разграничение ролей: обычный пользователь и администратор
</a:t>
            </a:r>
            <a:r>
              <a:rPr lang="en-US" sz="1800" b="1" dirty="0">
                <a:solidFill>
                  <a:srgbClr val="2A7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Единое API для настольного и мобильного приложений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3B967B9-F6DD-F3CC-439B-B3A67EA5E966}"/>
              </a:ext>
            </a:extLst>
          </p:cNvPr>
          <p:cNvSpPr/>
          <p:nvPr/>
        </p:nvSpPr>
        <p:spPr>
          <a:xfrm>
            <a:off x="7331242" y="1529758"/>
            <a:ext cx="4531724" cy="4492999"/>
          </a:xfrm>
          <a:prstGeom prst="roundRect">
            <a:avLst>
              <a:gd name="adj" fmla="val 2740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F83DCBD-BFF4-F5F6-A6B1-3644C2A0F948}"/>
              </a:ext>
            </a:extLst>
          </p:cNvPr>
          <p:cNvSpPr/>
          <p:nvPr/>
        </p:nvSpPr>
        <p:spPr>
          <a:xfrm>
            <a:off x="7882362" y="1594445"/>
            <a:ext cx="4304427" cy="479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D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сущности</a:t>
            </a:r>
            <a:endParaRPr lang="en-US" sz="14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C2576077-D824-BC79-BA76-213366FCD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040" y="2161373"/>
            <a:ext cx="489758" cy="489758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8EEF63EC-B9EA-840B-DA0D-B8D1083BB140}"/>
              </a:ext>
            </a:extLst>
          </p:cNvPr>
          <p:cNvSpPr/>
          <p:nvPr/>
        </p:nvSpPr>
        <p:spPr>
          <a:xfrm>
            <a:off x="8337058" y="2143085"/>
            <a:ext cx="3608122" cy="503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(User)</a:t>
            </a:r>
            <a:endParaRPr lang="en-US" sz="1300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19786183-CC72-8166-25BC-5F9CB4ECBB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2040" y="2755733"/>
            <a:ext cx="489758" cy="489758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3EFB6B26-CD7D-F4F0-5499-95EDA2775280}"/>
              </a:ext>
            </a:extLst>
          </p:cNvPr>
          <p:cNvSpPr/>
          <p:nvPr/>
        </p:nvSpPr>
        <p:spPr>
          <a:xfrm>
            <a:off x="8284174" y="2737445"/>
            <a:ext cx="3608122" cy="503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Книга (Book)</a:t>
            </a:r>
            <a:endParaRPr lang="en-US" sz="1300" dirty="0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F968D460-2250-DB57-F6EB-1A71055911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156" y="3350093"/>
            <a:ext cx="489758" cy="489758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9140B51F-BBE0-7711-8FF6-2C1CE9C39A4C}"/>
              </a:ext>
            </a:extLst>
          </p:cNvPr>
          <p:cNvSpPr/>
          <p:nvPr/>
        </p:nvSpPr>
        <p:spPr>
          <a:xfrm>
            <a:off x="8284174" y="3331805"/>
            <a:ext cx="3608122" cy="503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Избранное (Favorite)</a:t>
            </a:r>
            <a:endParaRPr lang="en-US" sz="1300" dirty="0"/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361A3E4A-E4A4-BA90-5D51-AD9B7D70B8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9156" y="3944453"/>
            <a:ext cx="489758" cy="489758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2E0249D9-D3C6-2B7C-010B-9D0C617290EF}"/>
              </a:ext>
            </a:extLst>
          </p:cNvPr>
          <p:cNvSpPr/>
          <p:nvPr/>
        </p:nvSpPr>
        <p:spPr>
          <a:xfrm>
            <a:off x="8284174" y="3926165"/>
            <a:ext cx="3608122" cy="503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чтения (History)</a:t>
            </a:r>
            <a:endParaRPr lang="en-US" sz="1300" dirty="0"/>
          </a:p>
        </p:txBody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ADE409D4-C278-0485-EF2E-28CC299CC7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3641" y="4538813"/>
            <a:ext cx="508157" cy="508157"/>
          </a:xfrm>
          <a:prstGeom prst="rect">
            <a:avLst/>
          </a:prstGeom>
        </p:spPr>
      </p:pic>
      <p:sp>
        <p:nvSpPr>
          <p:cNvPr id="18" name="Text 11">
            <a:extLst>
              <a:ext uri="{FF2B5EF4-FFF2-40B4-BE49-F238E27FC236}">
                <a16:creationId xmlns:a16="http://schemas.microsoft.com/office/drawing/2014/main" id="{EA663B75-72F4-8744-0064-41356B48FDA2}"/>
              </a:ext>
            </a:extLst>
          </p:cNvPr>
          <p:cNvSpPr/>
          <p:nvPr/>
        </p:nvSpPr>
        <p:spPr>
          <a:xfrm>
            <a:off x="8284173" y="4520525"/>
            <a:ext cx="3154737" cy="4717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(Reader Rating)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/>
        </p:nvSpPr>
        <p:spPr>
          <a:xfrm>
            <a:off x="1068459" y="-162644"/>
            <a:ext cx="928202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endParaRPr dirty="0"/>
          </a:p>
        </p:txBody>
      </p:sp>
      <p:graphicFrame>
        <p:nvGraphicFramePr>
          <p:cNvPr id="130" name="Google Shape;130;p4"/>
          <p:cNvGraphicFramePr/>
          <p:nvPr>
            <p:extLst>
              <p:ext uri="{D42A27DB-BD31-4B8C-83A1-F6EECF244321}">
                <p14:modId xmlns:p14="http://schemas.microsoft.com/office/powerpoint/2010/main" val="1694274841"/>
              </p:ext>
            </p:extLst>
          </p:nvPr>
        </p:nvGraphicFramePr>
        <p:xfrm>
          <a:off x="505326" y="988185"/>
          <a:ext cx="11176650" cy="5348465"/>
        </p:xfrm>
        <a:graphic>
          <a:graphicData uri="http://schemas.openxmlformats.org/drawingml/2006/table">
            <a:tbl>
              <a:tblPr firstRow="1" bandRow="1">
                <a:noFill/>
                <a:tableStyleId>{6E846CCC-26C9-44BC-927E-25D5D4DBB280}</a:tableStyleId>
              </a:tblPr>
              <a:tblGrid>
                <a:gridCol w="414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Этап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Изображение (логотип)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Название инструмента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Функциональное </a:t>
                      </a:r>
                      <a:r>
                        <a:rPr lang="ru-RU" sz="18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проектирование программного продукта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Draw.io</a:t>
                      </a:r>
                      <a:endParaRPr lang="en-US" sz="14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400" b="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Проектирование базы данных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Реализация базы данных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+ XAMPP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Проектирование интерфейса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Studio </a:t>
                      </a:r>
                      <a:endParaRPr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Реализация (среда разработки)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Studio 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Реализация (инструменты, языки)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 + Dart</a:t>
                      </a:r>
                      <a:endParaRPr lang="en-US" sz="14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Разработка (фреймворки)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http, </a:t>
                      </a:r>
                      <a:r>
                        <a:rPr lang="en-US" dirty="0" err="1"/>
                        <a:t>url_launcher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flutter_pdfview</a:t>
                      </a:r>
                      <a:endParaRPr lang="en-US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Тестирование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Ручное тестирование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1" name="Google Shape;131;p4" descr="Visual Studio Code Logo Vector SVG Icon - SVG Repo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11646716" y="6421554"/>
            <a:ext cx="5452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7C6B7D-56B9-2D73-35F4-1831612E3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832" y="1368320"/>
            <a:ext cx="665135" cy="562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3CE3E8-FD83-05FB-6A73-1C43F6F1C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16" y="2090110"/>
            <a:ext cx="665135" cy="56280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607A31-27F0-6458-44ED-483DE07BEE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0533" y="2758885"/>
            <a:ext cx="665135" cy="58688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750C353-7A3C-EF3D-D2CA-D165BE46B2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516" y="3403328"/>
            <a:ext cx="665135" cy="57279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050AEE9-B4D7-397F-A40B-8ED1634FB1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516" y="4082597"/>
            <a:ext cx="665135" cy="57279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D407AB3-38F5-28D9-24A1-251A85EA2E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0533" y="4741611"/>
            <a:ext cx="652858" cy="562807"/>
          </a:xfrm>
          <a:prstGeom prst="rect">
            <a:avLst/>
          </a:prstGeom>
        </p:spPr>
      </p:pic>
      <p:sp>
        <p:nvSpPr>
          <p:cNvPr id="14" name="Shape 0">
            <a:extLst>
              <a:ext uri="{FF2B5EF4-FFF2-40B4-BE49-F238E27FC236}">
                <a16:creationId xmlns:a16="http://schemas.microsoft.com/office/drawing/2014/main" id="{72BF1272-62BC-F33E-B82B-4DA3ED1E2AE2}"/>
              </a:ext>
            </a:extLst>
          </p:cNvPr>
          <p:cNvSpPr/>
          <p:nvPr/>
        </p:nvSpPr>
        <p:spPr>
          <a:xfrm>
            <a:off x="-51028" y="16968"/>
            <a:ext cx="12243028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6B4ACE61-16FF-3DD9-2057-7E079203EA28}"/>
              </a:ext>
            </a:extLst>
          </p:cNvPr>
          <p:cNvSpPr/>
          <p:nvPr/>
        </p:nvSpPr>
        <p:spPr>
          <a:xfrm>
            <a:off x="505326" y="108408"/>
            <a:ext cx="1125979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Инструментальные средства разработки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>
            <a:spLocks noGrp="1"/>
          </p:cNvSpPr>
          <p:nvPr>
            <p:ph type="title"/>
          </p:nvPr>
        </p:nvSpPr>
        <p:spPr>
          <a:xfrm>
            <a:off x="821509" y="131264"/>
            <a:ext cx="1068812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endParaRPr dirty="0"/>
          </a:p>
        </p:txBody>
      </p:sp>
      <p:sp>
        <p:nvSpPr>
          <p:cNvPr id="139" name="Google Shape;139;p5"/>
          <p:cNvSpPr txBox="1"/>
          <p:nvPr/>
        </p:nvSpPr>
        <p:spPr>
          <a:xfrm>
            <a:off x="11500635" y="6326626"/>
            <a:ext cx="5452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1428378" y="1127914"/>
            <a:ext cx="42393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Диаграмма вариантов использования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7361575" y="1131363"/>
            <a:ext cx="29219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Диаграмма деятельности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74B2B69-5BAD-5B9B-F360-C36429603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033" y="1966786"/>
            <a:ext cx="4414236" cy="354862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F63F135-81E5-A01D-5222-FE37FD918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076" y="1867324"/>
            <a:ext cx="3553798" cy="3859313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4E4CC2F9-BE4A-E715-C999-42D688C43D4D}"/>
              </a:ext>
            </a:extLst>
          </p:cNvPr>
          <p:cNvSpPr/>
          <p:nvPr/>
        </p:nvSpPr>
        <p:spPr>
          <a:xfrm>
            <a:off x="-1" y="0"/>
            <a:ext cx="12268797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B536F53-F838-76D2-7E7F-4BF18C0BAF35}"/>
              </a:ext>
            </a:extLst>
          </p:cNvPr>
          <p:cNvSpPr/>
          <p:nvPr/>
        </p:nvSpPr>
        <p:spPr>
          <a:xfrm>
            <a:off x="274319" y="91440"/>
            <a:ext cx="115326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программного продукта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/>
          <p:nvPr/>
        </p:nvSpPr>
        <p:spPr>
          <a:xfrm>
            <a:off x="8099079" y="1320125"/>
            <a:ext cx="160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ER-модель</a:t>
            </a:r>
            <a:endParaRPr/>
          </a:p>
        </p:txBody>
      </p:sp>
      <p:sp>
        <p:nvSpPr>
          <p:cNvPr id="153" name="Google Shape;153;p6"/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1495981" y="1320119"/>
            <a:ext cx="321177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Инфологическая модель</a:t>
            </a:r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9A60ED8-FF5D-74B9-9E1D-38D54C7B7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544" y="2142527"/>
            <a:ext cx="4358005" cy="334772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DF0FA6C-E090-2DB6-4D65-04F578A46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53" y="1720229"/>
            <a:ext cx="3810000" cy="4624705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3755995A-F16E-BE5B-0D00-D507E8E8343A}"/>
              </a:ext>
            </a:extLst>
          </p:cNvPr>
          <p:cNvSpPr/>
          <p:nvPr/>
        </p:nvSpPr>
        <p:spPr>
          <a:xfrm>
            <a:off x="0" y="320"/>
            <a:ext cx="12312916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65475AD5-C0AF-57B4-C1FC-2DA744AEC1A4}"/>
              </a:ext>
            </a:extLst>
          </p:cNvPr>
          <p:cNvSpPr/>
          <p:nvPr/>
        </p:nvSpPr>
        <p:spPr>
          <a:xfrm>
            <a:off x="153404" y="143886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базы данных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 txBox="1"/>
          <p:nvPr/>
        </p:nvSpPr>
        <p:spPr>
          <a:xfrm>
            <a:off x="11500635" y="6326626"/>
            <a:ext cx="5452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0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1401383" y="1034288"/>
            <a:ext cx="287174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Таблица </a:t>
            </a:r>
            <a:r>
              <a:rPr lang="en-US" dirty="0"/>
              <a:t>User</a:t>
            </a:r>
            <a:endParaRPr dirty="0"/>
          </a:p>
        </p:txBody>
      </p:sp>
      <p:sp>
        <p:nvSpPr>
          <p:cNvPr id="169" name="Google Shape;169;p7"/>
          <p:cNvSpPr txBox="1"/>
          <p:nvPr/>
        </p:nvSpPr>
        <p:spPr>
          <a:xfrm>
            <a:off x="7369666" y="1118718"/>
            <a:ext cx="287174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Таблица </a:t>
            </a:r>
            <a:r>
              <a:rPr lang="en-US" dirty="0"/>
              <a:t>history</a:t>
            </a:r>
            <a:endParaRPr dirty="0"/>
          </a:p>
        </p:txBody>
      </p:sp>
      <p:sp>
        <p:nvSpPr>
          <p:cNvPr id="171" name="Google Shape;171;p7"/>
          <p:cNvSpPr txBox="1"/>
          <p:nvPr/>
        </p:nvSpPr>
        <p:spPr>
          <a:xfrm>
            <a:off x="1176596" y="3816218"/>
            <a:ext cx="28717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Таблица </a:t>
            </a:r>
            <a:r>
              <a:rPr lang="en-US" sz="18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Books</a:t>
            </a:r>
            <a:endParaRPr dirty="0"/>
          </a:p>
        </p:txBody>
      </p:sp>
      <p:sp>
        <p:nvSpPr>
          <p:cNvPr id="173" name="Google Shape;173;p7"/>
          <p:cNvSpPr txBox="1"/>
          <p:nvPr/>
        </p:nvSpPr>
        <p:spPr>
          <a:xfrm>
            <a:off x="7114033" y="3775518"/>
            <a:ext cx="287174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Таблица </a:t>
            </a:r>
            <a:r>
              <a:rPr lang="en-US" dirty="0"/>
              <a:t>favorite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E1684B-E309-57D5-B67C-582F23D6A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95" y="1663372"/>
            <a:ext cx="5268795" cy="176373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F067A27-61B2-E1B2-480C-B69F502B3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095" y="4373924"/>
            <a:ext cx="4799169" cy="17637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16ED2D-40E3-DC83-35A7-701032F3BF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7596" y="4179513"/>
            <a:ext cx="2888185" cy="232828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E3F0B19-61BA-6E79-F26D-E17E0241ED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7596" y="1546171"/>
            <a:ext cx="3152729" cy="2181217"/>
          </a:xfrm>
          <a:prstGeom prst="rect">
            <a:avLst/>
          </a:prstGeom>
        </p:spPr>
      </p:pic>
      <p:sp>
        <p:nvSpPr>
          <p:cNvPr id="12" name="Shape 0">
            <a:extLst>
              <a:ext uri="{FF2B5EF4-FFF2-40B4-BE49-F238E27FC236}">
                <a16:creationId xmlns:a16="http://schemas.microsoft.com/office/drawing/2014/main" id="{252163D7-F133-F550-8A81-7331B3D9CE5F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5E02AB70-57CF-3DD0-78F2-C5B34C1AA27F}"/>
              </a:ext>
            </a:extLst>
          </p:cNvPr>
          <p:cNvSpPr/>
          <p:nvPr/>
        </p:nvSpPr>
        <p:spPr>
          <a:xfrm>
            <a:off x="274320" y="91440"/>
            <a:ext cx="1146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8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Описание таблиц ER- модели</a:t>
            </a:r>
            <a:endParaRPr lang="en-US" sz="2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 txBox="1"/>
          <p:nvPr/>
        </p:nvSpPr>
        <p:spPr>
          <a:xfrm>
            <a:off x="11500635" y="6326626"/>
            <a:ext cx="5452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83" name="Google Shape;183;p8"/>
          <p:cNvSpPr txBox="1"/>
          <p:nvPr/>
        </p:nvSpPr>
        <p:spPr>
          <a:xfrm>
            <a:off x="545212" y="1207576"/>
            <a:ext cx="4465906" cy="5244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Тип: ручное функциональное и интеграционное тестирование</a:t>
            </a:r>
            <a:b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Заголовок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Авторизация с неверными данными</a:t>
            </a:r>
            <a:b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Тестовые данные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Логин: user1, пароль: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wrongpass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Ожидаемый результат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Появление сообщения «Неверный логин или пароль».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Статус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Зачёт</a:t>
            </a:r>
            <a:endParaRPr lang="ru-RU" sz="2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37281A-2C96-8E0F-2046-3B3BBB383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1" y="1085938"/>
            <a:ext cx="4941188" cy="5084707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752ED640-C5F6-704F-ECDC-A46570F98E55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85705BF-A8A0-3118-6548-42EFEBA515C9}"/>
              </a:ext>
            </a:extLst>
          </p:cNvPr>
          <p:cNvSpPr/>
          <p:nvPr/>
        </p:nvSpPr>
        <p:spPr>
          <a:xfrm>
            <a:off x="274320" y="91440"/>
            <a:ext cx="1146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программного продукта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 txBox="1">
            <a:spLocks noGrp="1"/>
          </p:cNvSpPr>
          <p:nvPr>
            <p:ph type="title"/>
          </p:nvPr>
        </p:nvSpPr>
        <p:spPr>
          <a:xfrm>
            <a:off x="529197" y="2766218"/>
            <a:ext cx="1113360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ru-RU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Демонстрация программного продукта</a:t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4000"/>
          </a:schemeClr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 txBox="1"/>
          <p:nvPr/>
        </p:nvSpPr>
        <p:spPr>
          <a:xfrm>
            <a:off x="11567585" y="6378763"/>
            <a:ext cx="5452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1030224" y="1742240"/>
            <a:ext cx="10131552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Разработано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настольное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и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мобильное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приложение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«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Электронная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библиотека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»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на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Flutter + Dart</a:t>
            </a:r>
            <a:b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</a:b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Реализован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полный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стек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: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клиент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(Flutter) ↔ REST API (PHP) ↔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база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данных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(MySQL/XAMPP)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Функциональные задачи выполнены: авторизация, каталог, поиск, PDF-чтение, избранное, рейтинг</a:t>
            </a:r>
          </a:p>
          <a:p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Созданы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отдельные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роли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: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пользователь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и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администратор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с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полным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CRUD-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управлением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каталогом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Успешно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пройдено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ручное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тестирование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:</a:t>
            </a:r>
            <a:r>
              <a:rPr lang="ru-RU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все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тест-кейсов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—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статус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«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Успешно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4C51389B-A9FA-02EB-3836-9240EA1F30CF}"/>
              </a:ext>
            </a:extLst>
          </p:cNvPr>
          <p:cNvSpPr/>
          <p:nvPr/>
        </p:nvSpPr>
        <p:spPr>
          <a:xfrm>
            <a:off x="1499937" y="4670245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1700" dirty="0">
              <a:solidFill>
                <a:schemeClr val="tx1"/>
              </a:solidFill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5EA6A1A1-2CAA-FDD5-0E1F-2A9A6C791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19" y="1742240"/>
            <a:ext cx="390305" cy="390305"/>
          </a:xfrm>
          <a:prstGeom prst="rect">
            <a:avLst/>
          </a:prstGeom>
        </p:spPr>
      </p:pic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675C7152-DDDD-DE33-0FD7-1A6EE9696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18" y="2343819"/>
            <a:ext cx="390305" cy="390305"/>
          </a:xfrm>
          <a:prstGeom prst="rect">
            <a:avLst/>
          </a:prstGeom>
        </p:spPr>
      </p:pic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AE031218-2014-0667-4FD7-61A5F4430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18" y="2978228"/>
            <a:ext cx="390305" cy="390305"/>
          </a:xfrm>
          <a:prstGeom prst="rect">
            <a:avLst/>
          </a:prstGeom>
        </p:spPr>
      </p:pic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652B2E36-99F1-DBF7-7894-F92C6396A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17" y="3612637"/>
            <a:ext cx="390305" cy="390305"/>
          </a:xfrm>
          <a:prstGeom prst="rect">
            <a:avLst/>
          </a:prstGeom>
        </p:spPr>
      </p:pic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053497D5-FA32-6079-EABE-FA36B5FDB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18" y="4196373"/>
            <a:ext cx="390305" cy="390305"/>
          </a:xfrm>
          <a:prstGeom prst="rect">
            <a:avLst/>
          </a:prstGeom>
        </p:spPr>
      </p:pic>
      <p:sp>
        <p:nvSpPr>
          <p:cNvPr id="15" name="Shape 0">
            <a:extLst>
              <a:ext uri="{FF2B5EF4-FFF2-40B4-BE49-F238E27FC236}">
                <a16:creationId xmlns:a16="http://schemas.microsoft.com/office/drawing/2014/main" id="{5ADBC117-5EF1-F723-6DBF-4B4D16FD7953}"/>
              </a:ext>
            </a:extLst>
          </p:cNvPr>
          <p:cNvSpPr/>
          <p:nvPr/>
        </p:nvSpPr>
        <p:spPr>
          <a:xfrm>
            <a:off x="-1" y="0"/>
            <a:ext cx="12112869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B101A9A0-5C5D-09BC-DA78-6C66DC9A8CC3}"/>
              </a:ext>
            </a:extLst>
          </p:cNvPr>
          <p:cNvSpPr/>
          <p:nvPr/>
        </p:nvSpPr>
        <p:spPr>
          <a:xfrm>
            <a:off x="274319" y="91440"/>
            <a:ext cx="1138609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Вывод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476</Words>
  <Application>Microsoft Office PowerPoint</Application>
  <PresentationFormat>Широкоэкранный</PresentationFormat>
  <Paragraphs>89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Демонстрация программного продукта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_Moore.Skrim_</dc:creator>
  <cp:lastModifiedBy>Лекгийх Александр</cp:lastModifiedBy>
  <cp:revision>1</cp:revision>
  <dcterms:created xsi:type="dcterms:W3CDTF">2023-05-28T07:05:17Z</dcterms:created>
  <dcterms:modified xsi:type="dcterms:W3CDTF">2026-06-22T10:40:40Z</dcterms:modified>
</cp:coreProperties>
</file>